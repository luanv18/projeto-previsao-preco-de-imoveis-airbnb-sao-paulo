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 de Preços de Imóveis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Airbnb São Paulo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em Ciência de Dados — UNIFOR | Aprendizado de Máquina Supervisionado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de Regressão — Dados públicos InsideAirbnb (jun/2026)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1 — Definição do Problema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e objetivo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Problema: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— prever o preço da diária (price) de anúncios do Airbnb em São Paulo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amostra representa: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anúncio individual (imóvel específico) publicado na plataforma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dos dados: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InsideAirbnb — scrape público de São Paulo (20/06/2026)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Volume: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42.354 anúncios, 90 colunas originais (reduzidas às relevantes)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Motivação: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apoiar anfitriões e investidores na precificação competitiva de imóveis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1 — Dicionário de Dados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colunas utilizadas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512064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Descrição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Preço da diária (R$)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room_type / property_type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de acomodação/imóvel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accommodates, bedrooms, beds, bathrooms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Capacidade e cômodos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latitude, longitude, neighbourhood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Localização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name, description, amenities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Texto (título, descrição, comodidades)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(NLP)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host_is_superhost, host_listings_count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Perfil do anfitrião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review_scores_*, number_of_reviews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Avaliações recebidas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2 — EDA: Distribuição do Preço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Assimetria extrema (skewness=35,5) suavizada por log-transform (skewness=0,70)</a:t>
            </a:r>
            <a:endParaRPr lang="en-US" sz="1400" dirty="0"/>
          </a:p>
        </p:txBody>
      </p:sp>
      <p:pic>
        <p:nvPicPr>
          <p:cNvPr id="4" name="Image 0" descr="/home/claude/work/imgs/cell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108813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2 — EDA: Tipos de Imóvel e Outliers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room_type desbalanceado (86% inteiro); poucos outliers extremos em quartos/camas</a:t>
            </a:r>
            <a:endParaRPr lang="en-US" sz="1400" dirty="0"/>
          </a:p>
        </p:txBody>
      </p:sp>
      <p:pic>
        <p:nvPicPr>
          <p:cNvPr id="4" name="Image 0" descr="/home/claude/work/imgs/cell1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5303520" cy="4389120"/>
          </a:xfrm>
          <a:prstGeom prst="rect">
            <a:avLst/>
          </a:prstGeom>
        </p:spPr>
      </p:pic>
      <p:pic>
        <p:nvPicPr>
          <p:cNvPr id="5" name="Image 1" descr="/home/claude/work/imgs/cell18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56692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2 — EDA: Matriz de Correlação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Correlações lineares fracas (máx. 0,21) sugerem relações não-lineares com o preço</a:t>
            </a:r>
            <a:endParaRPr lang="en-US" sz="1400" dirty="0"/>
          </a:p>
        </p:txBody>
      </p:sp>
      <p:pic>
        <p:nvPicPr>
          <p:cNvPr id="4" name="Image 0" descr="/home/claude/work/imgs/cell2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371600"/>
            <a:ext cx="79552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2 — EDA: Mapa Geográfico de Preços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Concentração na região central/oeste de SP; sem gradiente geográfico simples</a:t>
            </a:r>
            <a:endParaRPr lang="en-US" sz="1400" dirty="0"/>
          </a:p>
        </p:txBody>
      </p:sp>
      <p:pic>
        <p:nvPicPr>
          <p:cNvPr id="4" name="Image 0" descr="/home/claude/work/imgs/cell24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1371600"/>
            <a:ext cx="7040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2 — EDA: Redução de Dimensionalidade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explica só 33,9% da variância; t-SNE revela clusters não-lineares</a:t>
            </a:r>
            <a:endParaRPr lang="en-US" sz="1400" dirty="0"/>
          </a:p>
        </p:txBody>
      </p:sp>
      <p:pic>
        <p:nvPicPr>
          <p:cNvPr id="4" name="Image 0" descr="/home/claude/work/imgs/cell27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5486400" cy="4389120"/>
          </a:xfrm>
          <a:prstGeom prst="rect">
            <a:avLst/>
          </a:prstGeom>
        </p:spPr>
      </p:pic>
      <p:pic>
        <p:nvPicPr>
          <p:cNvPr id="5" name="Image 1" descr="/home/claude/work/imgs/cell28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3 — Pré-processamento dos Dados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das decisões aplicadas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Nulos: removidos (price) ou imputados (mediana / flag+0 em reviews)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Outliers: capping em bedrooms, bathrooms, beds, minimum_nights e price (P99)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Categóricas: One-Hot com agrupamento de categorias raras (property_type, bairro)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(NLP): 20 amenities binarizadas + TF-IDF (30 termos) na descrição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treino/teste: 80/20 (33.456 / 8.365 registros)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Normalização: StandardScaler ajustado somente no treino (sem data leakage)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4 — Treinamento: Modelos Baseline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famílias de modelos, parâmetros padrão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011680"/>
          <a:ext cx="96012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743200"/>
                <a:gridCol w="1920240"/>
                <a:gridCol w="1920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Família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 (Teste)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 (Teste)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 Regression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0,401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R$ 121,83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Ensemble/Árvore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0,536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R$ 97,12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KNN (k=5)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Baseado em Instância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0,441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R$ 108,29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280160" y="4937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lidera desde o baseline, mas com forte overfitting (R² treino = 0,937)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4 — Ajuste de Hiperparâmetros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 (Ridge, KNN) e RandomizedSearchCV (Random Forest)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400800"/>
                <a:gridCol w="21031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Melhores Parâmetros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 (Teste)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 = 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0,401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n_neighbors=10, weights=distance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0,475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n_estimators=200, max_depth=None, min_samples_split=5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0,552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251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Forest: overfitting reduzido (R² treino de 0,937 → 0,909) e melhor generalização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5 — Avaliação do Modelo Final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Forest: R²=0,552 | MAE=R$95,86 | RMSE=R$176,71 | MAPE=~30%</a:t>
            </a:r>
            <a:endParaRPr lang="en-US" sz="1400" dirty="0"/>
          </a:p>
        </p:txBody>
      </p:sp>
      <p:pic>
        <p:nvPicPr>
          <p:cNvPr id="4" name="Image 0" descr="/home/claude/work/imgs/cell6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108813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5 — Conclusão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venceu em todas as métricas — coerente com a fraca correlação linear encontrada na EDA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Limitações: R² moderado (~55% da variação explicada); subestimação em imóveis de alto padrão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Melhorias futuras: testar Gradient Boosting (XGBoost/LightGBM); modelo dedicado ao segmento de luxo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Conclusão: modelo útil como apoio à precificação inicial, não substitui o julgamento humano em casos atípicos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2026-09-26T17:09:43Z</dcterms:created>
  <dcterms:modified xsi:type="dcterms:W3CDTF">2026-09-26T17:09:43Z</dcterms:modified>
</cp:coreProperties>
</file>